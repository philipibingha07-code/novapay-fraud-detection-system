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9" r:id="rId10"/>
    <p:sldId id="271" r:id="rId11"/>
    <p:sldId id="263" r:id="rId12"/>
    <p:sldId id="272" r:id="rId13"/>
    <p:sldId id="264" r:id="rId14"/>
    <p:sldId id="265" r:id="rId15"/>
    <p:sldId id="266" r:id="rId16"/>
    <p:sldId id="268" r:id="rId17"/>
    <p:sldId id="26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956685499058377E-2"/>
          <c:y val="0"/>
          <c:w val="0.94821092278719399"/>
          <c:h val="0.876925634295713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6A398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5D889DC-2435-4821-8FEF-695F37ECB53C}" type="VALUE">
                      <a:rPr lang="en-US" sz="1400" b="1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GB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471-4170-A42F-75B8A768C90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4B4A18C-ED13-4B1E-B560-42D2C0A82211}" type="VALUE">
                      <a:rPr lang="en-US" sz="1400" b="1" smtClean="0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GB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813388252033177"/>
                      <c:h val="6.855555555555555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471-4170-A42F-75B8A768C90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A3C78FA-BDB4-4D0C-9C0E-9B41DF77DDEF}" type="VALUE">
                      <a:rPr lang="en-US" sz="1400" b="1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GB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471-4170-A42F-75B8A768C90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60" b="0" i="0" u="heavy" strike="noStrike" baseline="0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Mobile</c:v>
                </c:pt>
                <c:pt idx="1">
                  <c:v>Web</c:v>
                </c:pt>
                <c:pt idx="2">
                  <c:v>ATM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6277</c:v>
                </c:pt>
                <c:pt idx="1">
                  <c:v>3724</c:v>
                </c:pt>
                <c:pt idx="2">
                  <c:v>1033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71-4170-A42F-75B8A768C9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956685499058377E-2"/>
          <c:y val="6.6425120772946863E-2"/>
          <c:w val="0.94821092278719399"/>
          <c:h val="0.7696051580508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solidFill>
              <a:srgbClr val="E8543E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US</c:v>
                </c:pt>
                <c:pt idx="1">
                  <c:v>Canada</c:v>
                </c:pt>
                <c:pt idx="2">
                  <c:v>UK</c:v>
                </c:pt>
                <c:pt idx="3">
                  <c:v>Unknown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0.09</c:v>
                </c:pt>
                <c:pt idx="1">
                  <c:v>7.0000000000000007E-2</c:v>
                </c:pt>
                <c:pt idx="2">
                  <c:v>0.08</c:v>
                </c:pt>
                <c:pt idx="3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B1-4DB0-8250-814BF23A6C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Non-fraud</c:v>
                </c:pt>
              </c:strCache>
            </c:strRef>
          </c:tx>
          <c:spPr>
            <a:solidFill>
              <a:srgbClr val="16A398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 SMOTE</c:v>
                </c:pt>
                <c:pt idx="1">
                  <c:v>After SMOTE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88.131578947368411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CB-4FAF-9A0B-551AAC7E3C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Fraud</c:v>
                </c:pt>
              </c:strCache>
            </c:strRef>
          </c:tx>
          <c:spPr>
            <a:solidFill>
              <a:srgbClr val="E8543E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 SMOTE</c:v>
                </c:pt>
                <c:pt idx="1">
                  <c:v>After SMOTE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11.868421052631579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CB-4FAF-9A0B-551AAC7E3C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E37B08C2-57BC-ECA6-227C-3C08499C04F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6366466" cy="3021177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438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DEF92-F561-29B9-FB30-D322E41A5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01691-E3BA-D608-765F-6665AA546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ED74D-AFFF-C1B8-4528-118047C8C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44822-0793-CD30-DCA0-AAB832D43A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89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90F8B-C78E-3A5D-7753-186DFE404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D146F-717D-E1A8-CE5A-1D34ED9EA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F7C9C-3DFE-C405-471B-98FC94242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FED23-73B2-8E6E-C24A-DA837F9C97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21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4E24E-CAE5-F158-EE06-43162929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4FEE7-CE99-B0CA-B764-F5599546C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34347-14A7-8357-2709-E28DF72A8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7E8F6-5D6C-FBAF-6684-9447BF7B4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32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137A6-D970-823A-73AC-B546574D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E5349-327D-9FE6-9C28-2CA519907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28D28-3C8E-4DF2-0551-9B8FD2C5B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2B7E8-2E70-6710-D7E1-F4D3CD3256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896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2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32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77240" y="777240"/>
            <a:ext cx="822960" cy="822960"/>
          </a:xfrm>
          <a:prstGeom prst="ellipse">
            <a:avLst/>
          </a:prstGeom>
          <a:solidFill>
            <a:srgbClr val="16A39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16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Fraud Detection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Cross-Border Payments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fraudulent transactions with machine learning — from raw transaction logs to a production-ready Random Forest classifier.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120640"/>
            <a:ext cx="0" cy="822960"/>
          </a:xfrm>
          <a:prstGeom prst="line">
            <a:avLst/>
          </a:prstGeom>
          <a:noFill/>
          <a:ln w="25400">
            <a:solidFill>
              <a:srgbClr val="16A3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051560" y="5074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Portfolio Project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•  scikit-learn  •  SMOTE  •  11,400 Transactions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remittances move fast — fraud detection has to move faster.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2814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exposure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31012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processes remittances across the US, Canada and the UK, in 9 currencies — each corridor with its own risk profile.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14800" y="18288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685800" cy="68580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22814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Multi-channel risk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389120" y="331012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arrive via web, mobile and ATM channels, each with different fraud signatures and device trust levels.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680960" y="18288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7955280" y="2103120"/>
            <a:ext cx="685800" cy="68580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588" y="22814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missed fraud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955280" y="331012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fraud drives direct financial loss, chargebacks, and regulatory exposure under KYC obligations.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868680" y="4754880"/>
            <a:ext cx="868680" cy="868680"/>
          </a:xfrm>
          <a:prstGeom prst="ellipse">
            <a:avLst/>
          </a:prstGeom>
          <a:solidFill>
            <a:srgbClr val="16A39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537" y="498073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2024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920240" y="49834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supervised classification model that flags fraudulent transactions in real time using behavioral, device, and transaction-level signals — maximizing recall on fraud without overwhelming analysts with false positives.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nova_pay_combined.xlsx — real-world-style transaction log with device, behavioral and KYC signals.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912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842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11,400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862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98424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566160" y="2862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98424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6400800" y="2862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Currencies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05256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28" y="198424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3544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9235440" y="2862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Groups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3913632"/>
            <a:ext cx="82296" cy="457200"/>
          </a:xfrm>
          <a:prstGeom prst="rect">
            <a:avLst/>
          </a:prstGeom>
          <a:solidFill>
            <a:srgbClr val="16A3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/>
          <p:nvPr/>
        </p:nvSpPr>
        <p:spPr>
          <a:xfrm>
            <a:off x="777240" y="3840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context</a:t>
            </a: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customer_id, home_country, source/dest currency, channel, timestamp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548640" y="4462272"/>
            <a:ext cx="82296" cy="457200"/>
          </a:xfrm>
          <a:prstGeom prst="rect">
            <a:avLst/>
          </a:prstGeom>
          <a:solidFill>
            <a:srgbClr val="16A3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7772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amount_src, amount_usd, fee, exchange_rate_src_to_dest</a:t>
            </a:r>
            <a:endParaRPr lang="en-US" sz="11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48640" y="5010912"/>
            <a:ext cx="82296" cy="457200"/>
          </a:xfrm>
          <a:prstGeom prst="rect">
            <a:avLst/>
          </a:prstGeom>
          <a:solidFill>
            <a:srgbClr val="16A3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777240" y="4937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3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Device &amp; network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: 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device_id, new_device, ip_address, ip_country, ip_risk_score, device_trust_score,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location_mismatch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5559552"/>
            <a:ext cx="82296" cy="457200"/>
          </a:xfrm>
          <a:prstGeom prst="rect">
            <a:avLst/>
          </a:prstGeom>
          <a:solidFill>
            <a:srgbClr val="16A3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777240" y="5486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/ risk</a:t>
            </a: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kyc_tier, account_age_days, chargeback_history_count, risk_score_internal, txn_velocity_1h, txn_velocity_24h, corridor_risk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Shape 23"/>
          <p:cNvSpPr/>
          <p:nvPr/>
        </p:nvSpPr>
        <p:spPr>
          <a:xfrm>
            <a:off x="9052560" y="1783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854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4"/>
          <p:cNvSpPr/>
          <p:nvPr/>
        </p:nvSpPr>
        <p:spPr>
          <a:xfrm>
            <a:off x="91897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1897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is_fraud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918972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 </a:t>
            </a:r>
            <a:r>
              <a:rPr lang="en-US" sz="3000" b="1" dirty="0" err="1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standadarzing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is messy — inconsistent labels, missing values, and mixed types all had to be resolved before modeling</a:t>
            </a:r>
            <a:r>
              <a:rPr lang="en-US" sz="13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Handled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458037"/>
              </p:ext>
            </p:extLst>
          </p:nvPr>
        </p:nvGraphicFramePr>
        <p:xfrm>
          <a:off x="670557" y="1989836"/>
          <a:ext cx="5638803" cy="2649728"/>
        </p:xfrm>
        <a:graphic>
          <a:graphicData uri="http://schemas.openxmlformats.org/drawingml/2006/table">
            <a:tbl>
              <a:tblPr/>
              <a:tblGrid>
                <a:gridCol w="1879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amount_usd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Recomputed via FX rate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295</a:t>
                      </a:r>
                      <a:endParaRPr lang="en-US" sz="16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fee by channel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device_trust_score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mean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kyc_tier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imputation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/ ip_address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Row-level drop (residual)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274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Label Inconsistencies Standardized</a:t>
            </a:r>
            <a:endParaRPr lang="en-US" sz="2000" b="1" dirty="0"/>
          </a:p>
        </p:txBody>
      </p:sp>
      <p:sp>
        <p:nvSpPr>
          <p:cNvPr id="7" name="Text 4"/>
          <p:cNvSpPr/>
          <p:nvPr/>
        </p:nvSpPr>
        <p:spPr>
          <a:xfrm>
            <a:off x="304797" y="4828032"/>
            <a:ext cx="5821683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channel:  "weeb", "WEB" → web   |   "ATm", "MOBILE" → normalizedkyc_tier:  "standrd" → standard, "enhancd" → enhancedhome_country:  "Us", "US" → us (lower-cased &amp; trimmed across text fields)</a:t>
            </a:r>
            <a:endParaRPr lang="en-US" sz="1400" b="1" dirty="0"/>
          </a:p>
        </p:txBody>
      </p:sp>
      <p:sp>
        <p:nvSpPr>
          <p:cNvPr id="8" name="Shape 5"/>
          <p:cNvSpPr/>
          <p:nvPr/>
        </p:nvSpPr>
        <p:spPr>
          <a:xfrm>
            <a:off x="6492240" y="1691640"/>
            <a:ext cx="5120640" cy="4892040"/>
          </a:xfrm>
          <a:prstGeom prst="roundRect">
            <a:avLst>
              <a:gd name="adj" fmla="val 1569"/>
            </a:avLst>
          </a:prstGeom>
          <a:solidFill>
            <a:srgbClr val="0B1B33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812280" y="1965960"/>
            <a:ext cx="685800" cy="685800"/>
          </a:xfrm>
          <a:prstGeom prst="ellipse">
            <a:avLst/>
          </a:prstGeom>
          <a:solidFill>
            <a:srgbClr val="16A39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588" y="21442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69200" y="2084832"/>
            <a:ext cx="376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89864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0" y="2788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0EE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Extracted year, month, day, hour, day_of_week and is_weekend from timestamp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47472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32320" y="33649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Binned account_age_days into 5 tenure buckets (&lt;30d … &gt;1yr)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050792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32320" y="39410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Binned amount_usd into 6 transaction-size tiers</a:t>
            </a:r>
            <a:endParaRPr lang="en-US" sz="14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626864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32320" y="45171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Binned ip_risk_score into 6 risk tiers for interpretability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5202936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132320" y="50932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all categorical fields (channel, currencies, kyc_tier, etc.)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5779008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132320" y="5669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12 numeric columns with StandardScaler</a:t>
            </a:r>
            <a:endParaRPr lang="en-US" sz="1400" dirty="0"/>
          </a:p>
        </p:txBody>
      </p:sp>
      <p:sp>
        <p:nvSpPr>
          <p:cNvPr id="24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-17373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Where Fraud Concentrates: Channel &amp; Segment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68680" y="5105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across 11,400 cleaned transactions surfaced clear segment-level fraud patterns.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1257299" y="10591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Volume by Channel</a:t>
            </a:r>
            <a:endParaRPr lang="en-US" sz="1400" b="1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815023171"/>
              </p:ext>
            </p:extLst>
          </p:nvPr>
        </p:nvGraphicFramePr>
        <p:xfrm>
          <a:off x="325120" y="1889760"/>
          <a:ext cx="4947920" cy="2471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978053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Fraud Rate by Channel</a:t>
            </a:r>
            <a:endParaRPr lang="en-US" sz="1400" b="1" dirty="0"/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2836447490"/>
              </p:ext>
            </p:extLst>
          </p:nvPr>
        </p:nvGraphicFramePr>
        <p:xfrm>
          <a:off x="5709920" y="1389533"/>
          <a:ext cx="6366466" cy="3182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663440"/>
            <a:ext cx="11064240" cy="2331720"/>
          </a:xfrm>
          <a:prstGeom prst="roundRect">
            <a:avLst>
              <a:gd name="adj" fmla="val 4571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5"/>
          <p:cNvSpPr/>
          <p:nvPr/>
        </p:nvSpPr>
        <p:spPr>
          <a:xfrm>
            <a:off x="868680" y="48006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762" y="5002682"/>
            <a:ext cx="373075" cy="3730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65960" y="4709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965960" y="5074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is the dominant channel by volume (55%), but WEB  Have the highest number of fraud  — a strong signal that most fraud come from web site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700" y="1361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Signal: Transaction Velocity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73378" y="114543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Rate by 24h Transaction Velocity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1440" y="4854955"/>
            <a:ext cx="12100560" cy="1969517"/>
          </a:xfrm>
          <a:prstGeom prst="roundRect">
            <a:avLst>
              <a:gd name="adj" fmla="val 5333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48640" y="5437632"/>
            <a:ext cx="476403" cy="577088"/>
          </a:xfrm>
          <a:prstGeom prst="ellipse">
            <a:avLst/>
          </a:prstGeom>
          <a:solidFill>
            <a:srgbClr val="E8543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03" y="5521757"/>
            <a:ext cx="373075" cy="3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5080" y="5485790"/>
            <a:ext cx="9144000" cy="214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58240" y="5715000"/>
            <a:ext cx="995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 or fewer transactions in 24 hours, fraud is rare (≤4%). At 4+ transactions, fraud rate jumps to 58%–100%. The same pattern holds for 1-hour velocity — velocity features are the single most predictive signal in the dataset.</a:t>
            </a:r>
            <a:endParaRPr lang="en-US" sz="1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08BDC5-F8FB-6929-E5FA-DB8AB4CFA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3868"/>
            <a:ext cx="12021260" cy="3619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1040" y="-2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Compounds with Amount, Time &amp; Account Age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4508575" y="546662"/>
            <a:ext cx="2197026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yearly trend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59284" y="5521716"/>
            <a:ext cx="11854993" cy="3537509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5"/>
          <p:cNvSpPr/>
          <p:nvPr/>
        </p:nvSpPr>
        <p:spPr>
          <a:xfrm>
            <a:off x="59284" y="5892189"/>
            <a:ext cx="777240" cy="777240"/>
          </a:xfrm>
          <a:prstGeom prst="ellipse">
            <a:avLst/>
          </a:prstGeom>
          <a:solidFill>
            <a:srgbClr val="FDF0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67" y="6101162"/>
            <a:ext cx="373075" cy="3730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0600" y="5847080"/>
            <a:ext cx="166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1119607" y="6055360"/>
            <a:ext cx="9700793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Yearly fraud trend  we can see that  2024 have highest  fraud transaction  records</a:t>
            </a: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28904" y="7492268"/>
            <a:ext cx="929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07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21F366A-17B5-2DDD-938F-E75075395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051560"/>
            <a:ext cx="12058192" cy="4332087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108FABEA-E436-B170-434B-4E8A21669292}"/>
              </a:ext>
            </a:extLst>
          </p:cNvPr>
          <p:cNvSpPr/>
          <p:nvPr/>
        </p:nvSpPr>
        <p:spPr>
          <a:xfrm>
            <a:off x="9243136" y="444519"/>
            <a:ext cx="2197026" cy="98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Rate by Hour of  day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1586C-7626-B72E-8114-5E454D7F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5FBB8DD-9852-A734-E992-A54F1C5C4932}"/>
              </a:ext>
            </a:extLst>
          </p:cNvPr>
          <p:cNvSpPr/>
          <p:nvPr/>
        </p:nvSpPr>
        <p:spPr>
          <a:xfrm>
            <a:off x="4023360" y="731520"/>
            <a:ext cx="471424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Rate by Transaction Amount</a:t>
            </a:r>
            <a:endParaRPr lang="en-US" sz="1600" b="1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5FD07D0-579C-60EC-EB0A-1B51C7F20E2F}"/>
              </a:ext>
            </a:extLst>
          </p:cNvPr>
          <p:cNvSpPr/>
          <p:nvPr/>
        </p:nvSpPr>
        <p:spPr>
          <a:xfrm>
            <a:off x="71119" y="5303521"/>
            <a:ext cx="12048338" cy="3659429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A3A7171-F606-2820-ED20-84345D375DDA}"/>
              </a:ext>
            </a:extLst>
          </p:cNvPr>
          <p:cNvSpPr/>
          <p:nvPr/>
        </p:nvSpPr>
        <p:spPr>
          <a:xfrm>
            <a:off x="144780" y="5650992"/>
            <a:ext cx="777240" cy="777240"/>
          </a:xfrm>
          <a:prstGeom prst="ellipse">
            <a:avLst/>
          </a:prstGeom>
          <a:solidFill>
            <a:srgbClr val="FDF0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F6A0F43-31D9-0324-1F42-5E55EEC90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91480"/>
            <a:ext cx="373075" cy="373075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3CB66072-CAFB-A7E6-B1CD-7EEC12192AFC}"/>
              </a:ext>
            </a:extLst>
          </p:cNvPr>
          <p:cNvSpPr/>
          <p:nvPr/>
        </p:nvSpPr>
        <p:spPr>
          <a:xfrm>
            <a:off x="1965960" y="4023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AAC10A1-810C-5926-60D2-2CBFCD5BEAC2}"/>
              </a:ext>
            </a:extLst>
          </p:cNvPr>
          <p:cNvSpPr/>
          <p:nvPr/>
        </p:nvSpPr>
        <p:spPr>
          <a:xfrm>
            <a:off x="995681" y="5486400"/>
            <a:ext cx="980948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fraud risk rises steeply through $2k–$5k (94%), then drops for &gt;$5k transactions — likely because very large transfers face stricter manual KYC review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CA23AB9-730E-9656-417E-9EA214AAF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1" y="1353311"/>
            <a:ext cx="11653519" cy="395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78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77F8C-FFFB-8919-5A53-3553FC23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BD685842-110F-BC47-2234-DB820BB6FA25}"/>
              </a:ext>
            </a:extLst>
          </p:cNvPr>
          <p:cNvSpPr/>
          <p:nvPr/>
        </p:nvSpPr>
        <p:spPr>
          <a:xfrm>
            <a:off x="3594538" y="8386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Fraud Rate by Account Age</a:t>
            </a:r>
            <a:endParaRPr lang="en-US" b="1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CA131FDE-485A-319B-ABC8-6FBF5B432555}"/>
              </a:ext>
            </a:extLst>
          </p:cNvPr>
          <p:cNvSpPr/>
          <p:nvPr/>
        </p:nvSpPr>
        <p:spPr>
          <a:xfrm>
            <a:off x="0" y="5934459"/>
            <a:ext cx="12415520" cy="1898901"/>
          </a:xfrm>
          <a:prstGeom prst="roundRect">
            <a:avLst>
              <a:gd name="adj" fmla="val 19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C09C1CE-2EDB-8FAA-2C51-2ADB634D3DC8}"/>
              </a:ext>
            </a:extLst>
          </p:cNvPr>
          <p:cNvSpPr/>
          <p:nvPr/>
        </p:nvSpPr>
        <p:spPr>
          <a:xfrm>
            <a:off x="26645" y="6891474"/>
            <a:ext cx="869492" cy="777240"/>
          </a:xfrm>
          <a:prstGeom prst="ellipse">
            <a:avLst/>
          </a:prstGeom>
          <a:solidFill>
            <a:srgbClr val="FDF0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C38C69AA-AA2D-33A0-38FC-201C2B3A4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" y="7165102"/>
            <a:ext cx="373075" cy="373075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31DA5CA2-3587-D5C0-CA60-29A27F93FBF6}"/>
              </a:ext>
            </a:extLst>
          </p:cNvPr>
          <p:cNvSpPr/>
          <p:nvPr/>
        </p:nvSpPr>
        <p:spPr>
          <a:xfrm>
            <a:off x="93225" y="6036777"/>
            <a:ext cx="8847566" cy="4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600" b="1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35A208D-7E99-49DC-C8BE-1B77BEA4AB8B}"/>
              </a:ext>
            </a:extLst>
          </p:cNvPr>
          <p:cNvSpPr/>
          <p:nvPr/>
        </p:nvSpPr>
        <p:spPr>
          <a:xfrm>
            <a:off x="896137" y="6157612"/>
            <a:ext cx="11686582" cy="1223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 accounts under 90 days old are responsible for the large majority of fraud; risk falls below 2% after 90 days.Time of day</a:t>
            </a:r>
            <a:endParaRPr lang="en-US" sz="1400" b="1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A144274-72C5-BD13-F89E-6E46279F9260}"/>
              </a:ext>
            </a:extLst>
          </p:cNvPr>
          <p:cNvSpPr/>
          <p:nvPr/>
        </p:nvSpPr>
        <p:spPr>
          <a:xfrm>
            <a:off x="362408" y="7242994"/>
            <a:ext cx="3351682" cy="5903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584B26-52DC-364E-803C-DC0B86DB9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5" y="1653933"/>
            <a:ext cx="11936074" cy="450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8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AA16A-F9E2-9ADE-01C3-78A0334DB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2002D946-8941-6CA9-1549-D3BCF61D2DCF}"/>
              </a:ext>
            </a:extLst>
          </p:cNvPr>
          <p:cNvSpPr/>
          <p:nvPr/>
        </p:nvSpPr>
        <p:spPr>
          <a:xfrm>
            <a:off x="3594538" y="311145"/>
            <a:ext cx="2338902" cy="381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peak hours</a:t>
            </a:r>
            <a:endParaRPr lang="en-US" sz="12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CD9D5BA-4C81-F047-9498-3F16A860BCD9}"/>
              </a:ext>
            </a:extLst>
          </p:cNvPr>
          <p:cNvSpPr/>
          <p:nvPr/>
        </p:nvSpPr>
        <p:spPr>
          <a:xfrm>
            <a:off x="0" y="5934459"/>
            <a:ext cx="12415520" cy="1898901"/>
          </a:xfrm>
          <a:prstGeom prst="roundRect">
            <a:avLst>
              <a:gd name="adj" fmla="val 19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DD0E9AD0-250E-B3DB-FAD3-50F8F459E9F2}"/>
              </a:ext>
            </a:extLst>
          </p:cNvPr>
          <p:cNvSpPr/>
          <p:nvPr/>
        </p:nvSpPr>
        <p:spPr>
          <a:xfrm>
            <a:off x="26645" y="6891474"/>
            <a:ext cx="869492" cy="777240"/>
          </a:xfrm>
          <a:prstGeom prst="ellipse">
            <a:avLst/>
          </a:prstGeom>
          <a:solidFill>
            <a:srgbClr val="FDF0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BADD573-7B0C-C8B1-7706-E691FE7EB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" y="7165102"/>
            <a:ext cx="373075" cy="373075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7B7AEE40-E91A-25BB-049E-1682CEC16E46}"/>
              </a:ext>
            </a:extLst>
          </p:cNvPr>
          <p:cNvSpPr/>
          <p:nvPr/>
        </p:nvSpPr>
        <p:spPr>
          <a:xfrm>
            <a:off x="93225" y="6036777"/>
            <a:ext cx="8847566" cy="4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600" b="1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0F83D20-7268-635B-3DC3-C8C666E65541}"/>
              </a:ext>
            </a:extLst>
          </p:cNvPr>
          <p:cNvSpPr/>
          <p:nvPr/>
        </p:nvSpPr>
        <p:spPr>
          <a:xfrm>
            <a:off x="896137" y="6157612"/>
            <a:ext cx="11686582" cy="1223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 b="1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F3A983F-F838-32AF-907C-C25DBC488AAF}"/>
              </a:ext>
            </a:extLst>
          </p:cNvPr>
          <p:cNvSpPr/>
          <p:nvPr/>
        </p:nvSpPr>
        <p:spPr>
          <a:xfrm>
            <a:off x="362408" y="7242994"/>
            <a:ext cx="3351682" cy="5903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42BD8-A2D3-B7BC-6324-7298F47B0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58" y="770586"/>
            <a:ext cx="10648744" cy="46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57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540" y="-3385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Device, Network &amp; Identity Signals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46931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look sharply different from legitimate ones on device and network trust metrics.</a:t>
            </a:r>
            <a:endParaRPr lang="en-US" sz="1600" b="1" dirty="0"/>
          </a:p>
        </p:txBody>
      </p:sp>
      <p:sp>
        <p:nvSpPr>
          <p:cNvPr id="4" name="Text 2"/>
          <p:cNvSpPr/>
          <p:nvPr/>
        </p:nvSpPr>
        <p:spPr>
          <a:xfrm>
            <a:off x="640080" y="98221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Fraud Rate by IP Risk Tier</a:t>
            </a:r>
            <a:endParaRPr lang="en-US" sz="1400" b="1" dirty="0"/>
          </a:p>
        </p:txBody>
      </p:sp>
      <p:sp>
        <p:nvSpPr>
          <p:cNvPr id="6" name="Text 3"/>
          <p:cNvSpPr/>
          <p:nvPr/>
        </p:nvSpPr>
        <p:spPr>
          <a:xfrm>
            <a:off x="8778240" y="1443973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Median Score: Fraud vs. Legitimate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8988446" y="2137727"/>
            <a:ext cx="3203554" cy="110070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794" y="244338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69274" y="2188267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Risk Score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650881" y="255154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b="1" dirty="0">
                <a:solidFill>
                  <a:srgbClr val="16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016943" y="26858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Fraud: </a:t>
            </a:r>
            <a:r>
              <a:rPr lang="en-US" sz="13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881241" y="3275680"/>
            <a:ext cx="305759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446" y="3465824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64474" y="3180327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Trust Score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445646" y="36170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Legit: </a:t>
            </a:r>
            <a:r>
              <a:rPr lang="en-US" sz="1300" b="1" dirty="0">
                <a:solidFill>
                  <a:srgbClr val="16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0.777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904482" y="3757659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Fraud: </a:t>
            </a:r>
            <a:r>
              <a:rPr lang="en-US" sz="13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0.237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147145" y="5552277"/>
            <a:ext cx="10917095" cy="1406809"/>
          </a:xfrm>
          <a:prstGeom prst="roundRect">
            <a:avLst>
              <a:gd name="adj" fmla="val 4848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137160" y="6125335"/>
            <a:ext cx="777240" cy="79873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65" y="6411069"/>
            <a:ext cx="373075" cy="3730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555227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767840" y="5960644"/>
            <a:ext cx="9418320" cy="637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almost always come from maximally risky IPs (median score 1.0) and untrusted devices (median 0.237) — device and network trust scores are near-perfect discriminators on their own.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08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4D76CD0-F1E9-7422-4A34-B409213DC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744" y="1380346"/>
            <a:ext cx="8711499" cy="40218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C6F425-0AC7-02FE-2B41-879B28613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5">
            <a:extLst>
              <a:ext uri="{FF2B5EF4-FFF2-40B4-BE49-F238E27FC236}">
                <a16:creationId xmlns:a16="http://schemas.microsoft.com/office/drawing/2014/main" id="{B6E4FBA6-A356-3FAB-ECA2-20FB6C997E00}"/>
              </a:ext>
            </a:extLst>
          </p:cNvPr>
          <p:cNvSpPr/>
          <p:nvPr/>
        </p:nvSpPr>
        <p:spPr>
          <a:xfrm>
            <a:off x="1767840" y="5960644"/>
            <a:ext cx="9418320" cy="637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almost always come from maximally risky IPs (median score 1.0) and untrusted devices (median 0.237) — device and network trust scores are near-perfect discriminators on their own.</a:t>
            </a:r>
            <a:endParaRPr lang="en-US" sz="16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2BD3A17F-96AA-BE64-D949-6D9A4CBE03B4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08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E98C0B-858C-451B-6C22-BB68EE6A3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44" y="841242"/>
            <a:ext cx="11232795" cy="517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28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Data for Modeling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scaling, and correcting for severe class imbalance before training.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21662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0" y="1920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0815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 10 categorical fields (channel, currencies, kyc_tier, country, risk buckets)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639312" y="2011680"/>
            <a:ext cx="594360" cy="59436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846" y="21662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2392" y="1920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39312" y="30815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12 numeric columns for comparable magnitude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72784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6501384" y="2011680"/>
            <a:ext cx="594360" cy="59436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918" y="216621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1920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01384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(SMOTE)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01384" y="30815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 corrects the fraud/non-fraud imbalance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34856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9363456" y="2011680"/>
            <a:ext cx="594360" cy="59436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7990" y="21662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146536" y="1920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363456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363456" y="30815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— 16,075 training rows, 4,019 test rows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Balance: Before vs. After SMOTE</a:t>
            </a:r>
            <a:endParaRPr lang="en-US" sz="15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457200" y="4572000"/>
          <a:ext cx="55778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0" name="Shape 23"/>
          <p:cNvSpPr/>
          <p:nvPr/>
        </p:nvSpPr>
        <p:spPr>
          <a:xfrm>
            <a:off x="6272784" y="4434840"/>
            <a:ext cx="5340096" cy="2148840"/>
          </a:xfrm>
          <a:prstGeom prst="roundRect">
            <a:avLst>
              <a:gd name="adj" fmla="val 3636"/>
            </a:avLst>
          </a:prstGeom>
          <a:solidFill>
            <a:srgbClr val="0B1B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4"/>
          <p:cNvSpPr/>
          <p:nvPr/>
        </p:nvSpPr>
        <p:spPr>
          <a:xfrm>
            <a:off x="667512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675120" y="51206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made up only ~11.9% of raw transactions. Without correction, models default to predicting “not fraud” and miss real cases. SMOTE generates synthetic fraud examples so the model learns both classes equally.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09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8 Classification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was trained on the balanced dataset and evaluated on a held-out 20% test set (4,019 transactions).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992944"/>
              </p:ext>
            </p:extLst>
          </p:nvPr>
        </p:nvGraphicFramePr>
        <p:xfrm>
          <a:off x="548640" y="1691640"/>
          <a:ext cx="7315200" cy="44851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(Fraud)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(Fraud)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(Fraud)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6B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9164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0B1B33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8412480" y="196596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562" y="2168042"/>
            <a:ext cx="373075" cy="3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Performer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41248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412480" y="3794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with XGBoost at 99% accuracy, but chosen for its interpretability, native feature importances, and lower tuning complexity in production.</a:t>
            </a:r>
            <a:endParaRPr lang="en-US" sz="1150" dirty="0"/>
          </a:p>
        </p:txBody>
      </p:sp>
      <p:sp>
        <p:nvSpPr>
          <p:cNvPr id="4" name="Shape 7"/>
          <p:cNvSpPr/>
          <p:nvPr/>
        </p:nvSpPr>
        <p:spPr>
          <a:xfrm>
            <a:off x="8412480" y="5212080"/>
            <a:ext cx="3017520" cy="0"/>
          </a:xfrm>
          <a:prstGeom prst="line">
            <a:avLst/>
          </a:prstGeom>
          <a:noFill/>
          <a:ln w="12700">
            <a:solidFill>
              <a:srgbClr val="2B45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8412480" y="5349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models (Logistic Regression, SVM) trail by 6–7 points of F1 — the fraud signal here is non-linear.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Tuned Random Forest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(5-fold CV, optimizing F1) confirmed the default configuration was already near-optimal.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Best Hyperparameters</a:t>
            </a:r>
            <a:endParaRPr lang="en-US" sz="15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400" b="1" dirty="0"/>
          </a:p>
        </p:txBody>
      </p:sp>
      <p:sp>
        <p:nvSpPr>
          <p:cNvPr id="7" name="Text 5"/>
          <p:cNvSpPr/>
          <p:nvPr/>
        </p:nvSpPr>
        <p:spPr>
          <a:xfrm>
            <a:off x="393192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12064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400" b="1" dirty="0"/>
          </a:p>
        </p:txBody>
      </p:sp>
      <p:sp>
        <p:nvSpPr>
          <p:cNvPr id="10" name="Text 8"/>
          <p:cNvSpPr/>
          <p:nvPr/>
        </p:nvSpPr>
        <p:spPr>
          <a:xfrm>
            <a:off x="393192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120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400" b="1" dirty="0"/>
          </a:p>
        </p:txBody>
      </p:sp>
      <p:sp>
        <p:nvSpPr>
          <p:cNvPr id="13" name="Text 11"/>
          <p:cNvSpPr/>
          <p:nvPr/>
        </p:nvSpPr>
        <p:spPr>
          <a:xfrm>
            <a:off x="393192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12064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</a:t>
            </a:r>
            <a:endParaRPr lang="en-US" sz="1400" b="1" dirty="0"/>
          </a:p>
        </p:txBody>
      </p:sp>
      <p:sp>
        <p:nvSpPr>
          <p:cNvPr id="16" name="Text 14"/>
          <p:cNvSpPr/>
          <p:nvPr/>
        </p:nvSpPr>
        <p:spPr>
          <a:xfrm>
            <a:off x="393192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120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319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Test-Set Performance</a:t>
            </a:r>
            <a:endParaRPr lang="en-US" sz="1600" b="1" dirty="0"/>
          </a:p>
        </p:txBody>
      </p:sp>
      <p:sp>
        <p:nvSpPr>
          <p:cNvPr id="21" name="Shape 19"/>
          <p:cNvSpPr/>
          <p:nvPr/>
        </p:nvSpPr>
        <p:spPr>
          <a:xfrm>
            <a:off x="6035040" y="21488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035040" y="22585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03504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0" y="21488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686800" y="22585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68680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(Fraud)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33832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035040" y="3493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035040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(Fraud)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0" y="33832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686800" y="3493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686800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(Fraud)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(Test Set, n=4,019)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046153"/>
              </p:ext>
            </p:extLst>
          </p:nvPr>
        </p:nvGraphicFramePr>
        <p:xfrm>
          <a:off x="548640" y="4572000"/>
          <a:ext cx="5486400" cy="19019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Legit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Fraud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Legit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1,973</a:t>
                      </a:r>
                      <a:endParaRPr lang="en-US" sz="1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E85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Fraud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E85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1,970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6156960" y="4617720"/>
            <a:ext cx="5486400" cy="2130552"/>
          </a:xfrm>
          <a:prstGeom prst="roundRect">
            <a:avLst>
              <a:gd name="adj" fmla="val 4571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6421120" y="5221224"/>
            <a:ext cx="50088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~1.9% of transactions were misclassified in either direction — an excellent balance of catching fraud while minimizing false alarms that would burden the review team.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206240" cy="4206240"/>
          </a:xfrm>
          <a:prstGeom prst="ellipse">
            <a:avLst/>
          </a:prstGeom>
          <a:solidFill>
            <a:srgbClr val="132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4023360" cy="4023360"/>
          </a:xfrm>
          <a:prstGeom prst="ellipse">
            <a:avLst/>
          </a:prstGeom>
          <a:solidFill>
            <a:srgbClr val="132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166360" y="1005840"/>
            <a:ext cx="1005840" cy="1005840"/>
          </a:xfrm>
          <a:prstGeom prst="ellipse">
            <a:avLst/>
          </a:prstGeom>
          <a:solidFill>
            <a:srgbClr val="16A39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878" y="12673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331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Logs to Real-Time Risk Scoring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965960" y="3063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Random Forest classifier reaching 99% accuracy and 99% F1-score on held-out fraud detection — built end-to-end from data cleaning through hyperparameter tuning.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66360" y="4114800"/>
            <a:ext cx="1828800" cy="0"/>
          </a:xfrm>
          <a:prstGeom prst="line">
            <a:avLst/>
          </a:prstGeom>
          <a:noFill/>
          <a:ln w="25400">
            <a:solidFill>
              <a:srgbClr val="16A3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05156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 Ibingha  </a:t>
            </a: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Data Scientist — Predictive Analytics &amp; ML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github.com/philipibingha07-code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13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D409A7-31FA-23E6-7979-6A28B4DDA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948159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model findings into concrete fraud-prevention actions for NovaPay.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Velocity-based real-time holds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136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any account with 4+ transactions in a rolling 24h window for step-up verification before completion.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926" y="21543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device &amp; IP trust higher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26280" y="3136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transactions from low-trust devices or high-risk IPs (score &gt; 0.7) into a manual review queue.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21543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Tighten controls for new accounts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75320" y="3136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lower transaction limits and extra checks for accounts under 90 days old, where fraud rate exceeds 35%.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43488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46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scrutiny at $1k–$5k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5330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transfer band shows the highest fraud concentration — apply enhanced verification before release.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4526280" y="4206240"/>
            <a:ext cx="548640" cy="54864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434888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846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the early-morning window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26280" y="5330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automated review sensitivity between 4am–8am, when fraud rate is roughly 3x baseline.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8275320" y="4206240"/>
            <a:ext cx="548640" cy="548640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7966" y="434888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846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Random Forest model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75320" y="5330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tuned classifier into the transaction pipeline as a real-time pre-authorization risk score.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  | 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20055</TotalTime>
  <Words>1539</Words>
  <Application>Microsoft Office PowerPoint</Application>
  <PresentationFormat>Widescreen</PresentationFormat>
  <Paragraphs>253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NovaPay — AI-Powered Cross-Border Fraud Detection</dc:title>
  <dc:subject>PptxGenJS Presentation</dc:subject>
  <dc:creator>Pheelz</dc:creator>
  <cp:lastModifiedBy>Philip Ibingha</cp:lastModifiedBy>
  <cp:revision>4</cp:revision>
  <dcterms:created xsi:type="dcterms:W3CDTF">2026-07-05T18:02:40Z</dcterms:created>
  <dcterms:modified xsi:type="dcterms:W3CDTF">2026-07-27T09:01:53Z</dcterms:modified>
</cp:coreProperties>
</file>